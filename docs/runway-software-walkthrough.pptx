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371600"/>
            <a:ext cx="777240" cy="777240"/>
          </a:xfrm>
          <a:prstGeom prst="roundRect">
            <a:avLst>
              <a:gd name="adj" fmla="val 4500"/>
            </a:avLst>
          </a:prstGeom>
          <a:solidFill>
            <a:srgbClr val="A3E63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81328"/>
            <a:ext cx="777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A0E13"/>
                </a:solidFill>
                <a:latin typeface="Helvetica Neue"/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1298448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E8EEF4"/>
                </a:solidFill>
                <a:latin typeface="Helvetica Neue"/>
              </a:rPr>
              <a:t>Runway</a:t>
            </a:r>
          </a:p>
          <a:p>
            <a:r>
              <a:rPr sz="1500" b="0" i="0">
                <a:solidFill>
                  <a:srgbClr val="8FA0AF"/>
                </a:solidFill>
                <a:latin typeface="Helvetica Neue"/>
              </a:rPr>
              <a:t>A money copilot for people who get paid every day — not twice a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346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3E635"/>
                </a:solidFill>
                <a:latin typeface="Helvetica Neue"/>
              </a:rPr>
              <a:t>SOFTWARE WALKTHROUGH · HACKATHON BUILD · JULY 2026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8FA0AF"/>
                </a:solidFill>
                <a:latin typeface="Helvetica Neue"/>
              </a:rPr>
              <a:t>Live demo:  </a:t>
            </a:r>
            <a:r>
              <a:rPr sz="1200" b="1" i="0">
                <a:solidFill>
                  <a:srgbClr val="E8EEF4"/>
                </a:solidFill>
                <a:latin typeface="Helvetica Neue"/>
              </a:rPr>
              <a:t>kelvine95.github.io/runway-money</a:t>
            </a:r>
            <a:r>
              <a:rPr sz="1200" b="0" i="0">
                <a:solidFill>
                  <a:srgbClr val="8FA0AF"/>
                </a:solidFill>
                <a:latin typeface="Helvetica Neue"/>
              </a:rPr>
              <a:t>      Code:  </a:t>
            </a:r>
            <a:r>
              <a:rPr sz="1200" b="1" i="0">
                <a:solidFill>
                  <a:srgbClr val="E8EEF4"/>
                </a:solidFill>
                <a:latin typeface="Helvetica Neue"/>
              </a:rPr>
              <a:t>github.com/kelvine95/runway-money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160520"/>
            <a:ext cx="2697480" cy="868680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4270248"/>
            <a:ext cx="24048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E8EEF4"/>
                </a:solidFill>
                <a:latin typeface="Helvetica Neue"/>
              </a:rPr>
              <a:t>6 modules</a:t>
            </a:r>
          </a:p>
          <a:p>
            <a:r>
              <a:rPr sz="850" b="0" i="0">
                <a:solidFill>
                  <a:srgbClr val="8FA0AF"/>
                </a:solidFill>
                <a:latin typeface="Helvetica Neue"/>
              </a:rPr>
              <a:t>Today · Life Pulse · Steady Paycheck · Bill Runway · Shift ROI · Advance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9584" y="4160520"/>
            <a:ext cx="2697480" cy="868680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4270248"/>
            <a:ext cx="24048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34D399"/>
                </a:solidFill>
                <a:latin typeface="Helvetica Neue"/>
              </a:rPr>
              <a:t>100% client-side</a:t>
            </a:r>
          </a:p>
          <a:p>
            <a:r>
              <a:rPr sz="850" b="0" i="0">
                <a:solidFill>
                  <a:srgbClr val="8FA0AF"/>
                </a:solidFill>
                <a:latin typeface="Helvetica Neue"/>
              </a:rPr>
              <a:t>React + TypeScript, no backend, free GitHub Pages hosting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5936" y="4160520"/>
            <a:ext cx="2697480" cy="868680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70248"/>
            <a:ext cx="24048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60A5FA"/>
                </a:solidFill>
                <a:latin typeface="Helvetica Neue"/>
              </a:rPr>
              <a:t>220 workers</a:t>
            </a:r>
          </a:p>
          <a:p>
            <a:r>
              <a:rPr sz="850" b="0" i="0">
                <a:solidFill>
                  <a:srgbClr val="8FA0AF"/>
                </a:solidFill>
                <a:latin typeface="Helvetica Neue"/>
              </a:rPr>
              <a:t>synthetic Alberta cohort: 12,204 shifts · 31,726 transactions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62288" y="4160520"/>
            <a:ext cx="2697480" cy="868680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08592" y="4270248"/>
            <a:ext cx="24048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87171"/>
                </a:solidFill>
                <a:latin typeface="Helvetica Neue"/>
              </a:rPr>
              <a:t>535 advances</a:t>
            </a:r>
          </a:p>
          <a:p>
            <a:r>
              <a:rPr sz="850" b="0" i="0">
                <a:solidFill>
                  <a:srgbClr val="8FA0AF"/>
                </a:solidFill>
                <a:latin typeface="Helvetica Neue"/>
              </a:rPr>
              <a:t>$1,435 in wage-advance fees observed in ~14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5C6B78"/>
                </a:solidFill>
                <a:latin typeface="Helvetica Neue"/>
              </a:rPr>
              <a:t>Runway — money copilot for daily earners   ·   kelvine95.github.io/runway-money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C6B78"/>
                </a:solidFill>
                <a:latin typeface="Helvetica Neue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A3E635"/>
                </a:solidFill>
                <a:latin typeface="Helvetica Neue"/>
              </a:rPr>
              <a:t>OVERVIEW</a:t>
            </a:r>
          </a:p>
          <a:p>
            <a:r>
              <a:rPr sz="2400" b="1" i="0">
                <a:solidFill>
                  <a:srgbClr val="E8EEF4"/>
                </a:solidFill>
                <a:latin typeface="Helvetica Neue"/>
              </a:rPr>
              <a:t>What Runway does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8FA0AF"/>
                </a:solidFill>
                <a:latin typeface="Helvetica Neue"/>
              </a:rPr>
              <a:t>It answers the question a bank app can't: “Given how I actually earn, can I spend today, will rent clear, and what should I do about it?”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600200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150" b="1" i="0">
                <a:solidFill>
                  <a:srgbClr val="E8EEF4"/>
                </a:solidFill>
                <a:latin typeface="Helvetica Neue"/>
              </a:rPr>
              <a:t>Ingest — </a:t>
            </a:r>
            <a:r>
              <a:rPr sz="1150" b="0" i="0">
                <a:solidFill>
                  <a:srgbClr val="8FA0AF"/>
                </a:solidFill>
                <a:latin typeface="Helvetica Neue"/>
              </a:rPr>
              <a:t>six CSV feeds per worker — profile, daily shift earnings, bank transactions, recurring bills, wage advances, weekly summaries.</a:t>
            </a:r>
          </a:p>
          <a:p>
            <a:pPr>
              <a:spcAft>
                <a:spcPts val="900"/>
              </a:spcAft>
            </a:pPr>
            <a:r>
              <a:rPr sz="11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150" b="1" i="0">
                <a:solidFill>
                  <a:srgbClr val="E8EEF4"/>
                </a:solidFill>
                <a:latin typeface="Helvetica Neue"/>
              </a:rPr>
              <a:t>Rebuild — </a:t>
            </a:r>
            <a:r>
              <a:rPr sz="1150" b="0" i="0">
                <a:solidFill>
                  <a:srgbClr val="8FA0AF"/>
                </a:solidFill>
                <a:latin typeface="Helvetica Neue"/>
              </a:rPr>
              <a:t>a clean balance ledger from transaction deltas (the raw feed's running balances are inconsistent, so the app never trusts them blindly).</a:t>
            </a:r>
          </a:p>
          <a:p>
            <a:pPr>
              <a:spcAft>
                <a:spcPts val="900"/>
              </a:spcAft>
            </a:pPr>
            <a:r>
              <a:rPr sz="11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150" b="1" i="0">
                <a:solidFill>
                  <a:srgbClr val="E8EEF4"/>
                </a:solidFill>
                <a:latin typeface="Helvetica Neue"/>
              </a:rPr>
              <a:t>Model — </a:t>
            </a:r>
            <a:r>
              <a:rPr sz="1150" b="0" i="0">
                <a:solidFill>
                  <a:srgbClr val="8FA0AF"/>
                </a:solidFill>
                <a:latin typeface="Helvetica Neue"/>
              </a:rPr>
              <a:t>each worker: income distribution, income floor (their own 25th-percentile week), essential spend rate, bill calendar, median take-home per shift.</a:t>
            </a:r>
          </a:p>
          <a:p>
            <a:pPr>
              <a:spcAft>
                <a:spcPts val="900"/>
              </a:spcAft>
            </a:pPr>
            <a:r>
              <a:rPr sz="11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150" b="1" i="0">
                <a:solidFill>
                  <a:srgbClr val="E8EEF4"/>
                </a:solidFill>
                <a:latin typeface="Helvetica Neue"/>
              </a:rPr>
              <a:t>Decide — </a:t>
            </a:r>
            <a:r>
              <a:rPr sz="1150" b="0" i="0">
                <a:solidFill>
                  <a:srgbClr val="8FA0AF"/>
                </a:solidFill>
                <a:latin typeface="Helvetica Neue"/>
              </a:rPr>
              <a:t>six views that speak in the worker's units — days of runway, shifts needed, funded confidence — instead of abstract budget categories.</a:t>
            </a:r>
          </a:p>
          <a:p>
            <a:pPr>
              <a:spcAft>
                <a:spcPts val="900"/>
              </a:spcAft>
            </a:pPr>
            <a:r>
              <a:rPr sz="11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150" b="1" i="0">
                <a:solidFill>
                  <a:srgbClr val="E8EEF4"/>
                </a:solidFill>
                <a:latin typeface="Helvetica Neue"/>
              </a:rPr>
              <a:t>Respect — </a:t>
            </a:r>
            <a:r>
              <a:rPr sz="1150" b="0" i="0">
                <a:solidFill>
                  <a:srgbClr val="8FA0AF"/>
                </a:solidFill>
                <a:latin typeface="Helvetica Neue"/>
              </a:rPr>
              <a:t>an ethical engagement loop: nudges only on surplus days, never savings pressure on lean days.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0" y="1600200"/>
            <a:ext cx="6126480" cy="658368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06440" y="1682496"/>
            <a:ext cx="57607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E8EEF4"/>
                </a:solidFill>
                <a:latin typeface="Helvetica Neue"/>
              </a:rPr>
              <a:t>1 · Today   </a:t>
            </a:r>
            <a:r>
              <a:rPr sz="950" b="0" i="0">
                <a:solidFill>
                  <a:srgbClr val="8FA0AF"/>
                </a:solidFill>
                <a:latin typeface="Helvetica Neue"/>
              </a:rPr>
              <a:t>Safe-to-spend after bills, essentials and a 7-day buffer — under a bad-week income assumption.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2350008"/>
            <a:ext cx="6126480" cy="658368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2432304"/>
            <a:ext cx="57607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34D399"/>
                </a:solidFill>
                <a:latin typeface="Helvetica Neue"/>
              </a:rPr>
              <a:t>2 · Steady Paycheck   </a:t>
            </a:r>
            <a:r>
              <a:rPr sz="950" b="0" i="0">
                <a:solidFill>
                  <a:srgbClr val="8FA0AF"/>
                </a:solidFill>
                <a:latin typeface="Helvetica Neue"/>
              </a:rPr>
              <a:t>Pay-yourself-a-salary automation, replayed and proven against real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3099816"/>
            <a:ext cx="6126480" cy="658368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3182112"/>
            <a:ext cx="57607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60A5FA"/>
                </a:solidFill>
                <a:latin typeface="Helvetica Neue"/>
              </a:rPr>
              <a:t>3 · Bill Runway   </a:t>
            </a:r>
            <a:r>
              <a:rPr sz="950" b="0" i="0">
                <a:solidFill>
                  <a:srgbClr val="8FA0AF"/>
                </a:solidFill>
                <a:latin typeface="Helvetica Neue"/>
              </a:rPr>
              <a:t>400-trial Monte Carlo of the next 30 days; per-bill funding confidence in shifts.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3849624"/>
            <a:ext cx="6126480" cy="658368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3931920"/>
            <a:ext cx="57607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E8EEF4"/>
                </a:solidFill>
                <a:latin typeface="Helvetica Neue"/>
              </a:rPr>
              <a:t>4 · Shift ROI   </a:t>
            </a:r>
            <a:r>
              <a:rPr sz="950" b="0" i="0">
                <a:solidFill>
                  <a:srgbClr val="8FA0AF"/>
                </a:solidFill>
                <a:latin typeface="Helvetica Neue"/>
              </a:rPr>
              <a:t>Take-home $/hour by weekday, shift type and employer — the income lever.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4599432"/>
            <a:ext cx="6126480" cy="658368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4681728"/>
            <a:ext cx="57607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F87171"/>
                </a:solidFill>
                <a:latin typeface="Helvetica Neue"/>
              </a:rPr>
              <a:t>5 · Advance Audit   </a:t>
            </a:r>
            <a:r>
              <a:rPr sz="950" b="0" i="0">
                <a:solidFill>
                  <a:srgbClr val="8FA0AF"/>
                </a:solidFill>
                <a:latin typeface="Helvetica Neue"/>
              </a:rPr>
              <a:t>Every wage advance priced as an effective APR, timed against rent 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5349240"/>
            <a:ext cx="6126480" cy="658368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5431536"/>
            <a:ext cx="57607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FBBF24"/>
                </a:solidFill>
                <a:latin typeface="Helvetica Neue"/>
              </a:rPr>
              <a:t>6 · Life Pulse   </a:t>
            </a:r>
            <a:r>
              <a:rPr sz="950" b="0" i="0">
                <a:solidFill>
                  <a:srgbClr val="8FA0AF"/>
                </a:solidFill>
                <a:latin typeface="Helvetica Neue"/>
              </a:rPr>
              <a:t>Personal inflation, living-wage gap, CA/US baselines + daily check-in.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5C6B78"/>
                </a:solidFill>
                <a:latin typeface="Helvetica Neue"/>
              </a:rPr>
              <a:t>Runway — money copilot for daily earners   ·   kelvine95.github.io/runway-money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C6B78"/>
                </a:solidFill>
                <a:latin typeface="Helvetica Neue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A3E635"/>
                </a:solidFill>
                <a:latin typeface="Helvetica Neue"/>
              </a:rPr>
              <a:t>THE DEMO PERSONA</a:t>
            </a:r>
          </a:p>
          <a:p>
            <a:r>
              <a:rPr sz="2400" b="1" i="0">
                <a:solidFill>
                  <a:srgbClr val="E8EEF4"/>
                </a:solidFill>
                <a:latin typeface="Helvetica Neue"/>
              </a:rPr>
              <a:t>Meet W-0046 — landscaping &amp; grounds, Calgary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8FA0AF"/>
                </a:solidFill>
                <a:latin typeface="Helvetica Neue"/>
              </a:rPr>
              <a:t>Every number in the next twelve slides is computed live in the browser from this worker's raw records. Nothing is mocked.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3566160" cy="868680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38528"/>
            <a:ext cx="32735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BBF24"/>
                </a:solidFill>
                <a:latin typeface="Helvetica Neue"/>
              </a:rPr>
              <a:t>Daily pay</a:t>
            </a:r>
          </a:p>
          <a:p>
            <a:r>
              <a:rPr sz="850" b="0" i="0">
                <a:solidFill>
                  <a:srgbClr val="8FA0AF"/>
                </a:solidFill>
                <a:latin typeface="Helvetica Neue"/>
              </a:rPr>
              <a:t>45% income volatility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828800"/>
            <a:ext cx="3566160" cy="868680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9704" y="1938528"/>
            <a:ext cx="32735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87171"/>
                </a:solidFill>
                <a:latin typeface="Helvetica Neue"/>
              </a:rPr>
              <a:t>Severe rent burden</a:t>
            </a:r>
          </a:p>
          <a:p>
            <a:r>
              <a:rPr sz="850" b="0" i="0">
                <a:solidFill>
                  <a:srgbClr val="8FA0AF"/>
                </a:solidFill>
                <a:latin typeface="Helvetica Neue"/>
              </a:rPr>
              <a:t>1 dependent at home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828800"/>
            <a:ext cx="3566160" cy="868680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84464" y="1938528"/>
            <a:ext cx="32735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E8EEF4"/>
                </a:solidFill>
                <a:latin typeface="Helvetica Neue"/>
              </a:rPr>
              <a:t>54 shifts on record</a:t>
            </a:r>
          </a:p>
          <a:p>
            <a:r>
              <a:rPr sz="850" b="0" i="0">
                <a:solidFill>
                  <a:srgbClr val="8FA0AF"/>
                </a:solidFill>
                <a:latin typeface="Helvetica Neue"/>
              </a:rPr>
              <a:t>~3.9 workdays per week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71800"/>
            <a:ext cx="3566160" cy="868680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3081528"/>
            <a:ext cx="32735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34D399"/>
                </a:solidFill>
                <a:latin typeface="Helvetica Neue"/>
              </a:rPr>
              <a:t>$206 median shift</a:t>
            </a:r>
          </a:p>
          <a:p>
            <a:r>
              <a:rPr sz="850" b="0" i="0">
                <a:solidFill>
                  <a:srgbClr val="8FA0AF"/>
                </a:solidFill>
                <a:latin typeface="Helvetica Neue"/>
              </a:rPr>
              <a:t>≈ 8.7 hours · $24.57/hr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971800"/>
            <a:ext cx="3566160" cy="868680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3081528"/>
            <a:ext cx="32735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87171"/>
                </a:solidFill>
                <a:latin typeface="Helvetica Neue"/>
              </a:rPr>
              <a:t>8 wage advances</a:t>
            </a:r>
          </a:p>
          <a:p>
            <a:r>
              <a:rPr sz="850" b="0" i="0">
                <a:solidFill>
                  <a:srgbClr val="8FA0AF"/>
                </a:solidFill>
                <a:latin typeface="Helvetica Neue"/>
              </a:rPr>
              <a:t>$40.44 in fees in 96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971800"/>
            <a:ext cx="3566160" cy="868680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081528"/>
            <a:ext cx="32735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60A5FA"/>
                </a:solidFill>
                <a:latin typeface="Helvetica Neue"/>
              </a:rPr>
              <a:t>$2,245 in the bank</a:t>
            </a:r>
          </a:p>
          <a:p>
            <a:r>
              <a:rPr sz="850" b="0" i="0">
                <a:solidFill>
                  <a:srgbClr val="8FA0AF"/>
                </a:solidFill>
                <a:latin typeface="Helvetica Neue"/>
              </a:rPr>
              <a:t>…and still $0 safe to spend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11064240" cy="1554480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1060704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A3E635"/>
                </a:solidFill>
                <a:latin typeface="Helvetica Neue"/>
              </a:rPr>
              <a:t>WHY THIS PERSONA MATTERS   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8FA0AF"/>
                </a:solidFill>
                <a:latin typeface="Helvetica Neue"/>
              </a:rPr>
              <a:t>W-0046 looks fine in a banking app: $2,245 in the account. But childcare ($805) hits tomorrow and rent ($1,956) in nine days, while income arrives in unpredictable $100–$320 daily chunks. This is exactly the gap between a balance and a plan — the worker has already paid $40.44 in advance fees this quarter renting liquidity they could have owned.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5C6B78"/>
                </a:solidFill>
                <a:latin typeface="Helvetica Neue"/>
              </a:rPr>
              <a:t>Runway — money copilot for daily earners   ·   kelvine95.github.io/runway-money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C6B78"/>
                </a:solidFill>
                <a:latin typeface="Helvetica Neue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A3E635"/>
                </a:solidFill>
                <a:latin typeface="Helvetica Neue"/>
              </a:rPr>
              <a:t>MODULE 1 · TODAY</a:t>
            </a:r>
          </a:p>
          <a:p>
            <a:r>
              <a:rPr sz="2400" b="1" i="0">
                <a:solidFill>
                  <a:srgbClr val="E8EEF4"/>
                </a:solidFill>
                <a:latin typeface="Helvetica Neue"/>
              </a:rPr>
              <a:t>Safe to Spend — the headline number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8FA0AF"/>
                </a:solidFill>
                <a:latin typeface="Helvetica Neue"/>
              </a:rPr>
              <a:t>The opening screen. Not the bank balance — what is genuinely spendable today.</a:t>
            </a:r>
          </a:p>
        </p:txBody>
      </p:sp>
      <p:pic>
        <p:nvPicPr>
          <p:cNvPr id="3" name="Picture 2" descr="shot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7818120" cy="4163148"/>
          </a:xfrm>
          <a:prstGeom prst="rect">
            <a:avLst/>
          </a:prstGeom>
          <a:ln w="12700">
            <a:solidFill>
              <a:srgbClr val="1E283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503920" y="1417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A3E635"/>
                </a:solidFill>
                <a:latin typeface="Helvetica Neue"/>
              </a:rPr>
              <a:t>WHAT YOU'RE SEEING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755648"/>
            <a:ext cx="32918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$0.00 safe today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even though the bank shows $2,245. The gap is the whole product.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Four cards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safe-to-spend · raw bank balance · 20 days of zero-income runway · next bill (childcare, $805, due tomorrow).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Red alert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worker is $302 short of covering 14 days + a 7-day buffer ≈ 1.5 extra shifts at their $206 median.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Balance chart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8 weeks of the rebuilt ledger — the sawtooth cliffs are bill days.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75904" y="4709160"/>
            <a:ext cx="3547872" cy="1627632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4818888"/>
            <a:ext cx="3291840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60A5FA"/>
                </a:solidFill>
                <a:latin typeface="Helvetica Neue"/>
              </a:rPr>
              <a:t>UNDER THE HOOD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8FA0AF"/>
                </a:solidFill>
                <a:latin typeface="Helvetica Neue"/>
              </a:rPr>
              <a:t>Flex = balance + conservative income − bills due − essentials − buffer floor. Safe today = max(0, Flex) ÷ 14. Conservative income uses the worker's own 25th-percentile week — planning for a bad stretch, not an average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5C6B78"/>
                </a:solidFill>
                <a:latin typeface="Helvetica Neue"/>
              </a:rPr>
              <a:t>Runway — money copilot for daily earners   ·   kelvine95.github.io/runway-money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C6B78"/>
                </a:solidFill>
                <a:latin typeface="Helvetica Neue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A3E635"/>
                </a:solidFill>
                <a:latin typeface="Helvetica Neue"/>
              </a:rPr>
              <a:t>MODULE 1 · TODAY</a:t>
            </a:r>
          </a:p>
          <a:p>
            <a:r>
              <a:rPr sz="2400" b="1" i="0">
                <a:solidFill>
                  <a:srgbClr val="E8EEF4"/>
                </a:solidFill>
                <a:latin typeface="Helvetica Neue"/>
              </a:rPr>
              <a:t>How the number is built, line by line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8FA0AF"/>
                </a:solidFill>
                <a:latin typeface="Helvetica Neue"/>
              </a:rPr>
              <a:t>Full transparency: the same screen shows the math and the 35-day bill outlook.</a:t>
            </a:r>
          </a:p>
        </p:txBody>
      </p:sp>
      <p:pic>
        <p:nvPicPr>
          <p:cNvPr id="3" name="Picture 2" descr="shot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7818120" cy="4163148"/>
          </a:xfrm>
          <a:prstGeom prst="rect">
            <a:avLst/>
          </a:prstGeom>
          <a:ln w="12700">
            <a:solidFill>
              <a:srgbClr val="1E283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503920" y="1417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A3E635"/>
                </a:solidFill>
                <a:latin typeface="Helvetica Neue"/>
              </a:rPr>
              <a:t>WHAT YOU'RE SEEING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755648"/>
            <a:ext cx="32918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The breakdown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+$2,245 balance, +$1,245 conservative income, −$2,808 bills, −$195.96 essentials ($14.00/day observed), −$787.01 buffer floor → −$301.72 flex.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Every bill scored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childcare $805 → 100% funded confidence · rent $1,956 → 97% · phone $47 → 98% · utilities beyond forecast.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No black box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each reservation line says what it is and why it is held 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75904" y="4709160"/>
            <a:ext cx="3547872" cy="1627632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4818888"/>
            <a:ext cx="3291840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60A5FA"/>
                </a:solidFill>
                <a:latin typeface="Helvetica Neue"/>
              </a:rPr>
              <a:t>UNDER THE HOOD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8FA0AF"/>
                </a:solidFill>
                <a:latin typeface="Helvetica Neue"/>
              </a:rPr>
              <a:t>Funding confidence comes from 400 simulated futures (see Bill Runway). Essentials are the trailing-56-day variable essential spend; the buffer floor is 7 days of essentials + prorated monthly obligations.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5C6B78"/>
                </a:solidFill>
                <a:latin typeface="Helvetica Neue"/>
              </a:rPr>
              <a:t>Runway — money copilot for daily earners   ·   kelvine95.github.io/runway-money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C6B78"/>
                </a:solidFill>
                <a:latin typeface="Helvetica Neue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A3E635"/>
                </a:solidFill>
                <a:latin typeface="Helvetica Neue"/>
              </a:rPr>
              <a:t>MODULE 2 · STEADY PAYCHECK</a:t>
            </a:r>
          </a:p>
          <a:p>
            <a:r>
              <a:rPr sz="2400" b="1" i="0">
                <a:solidFill>
                  <a:srgbClr val="E8EEF4"/>
                </a:solidFill>
                <a:latin typeface="Helvetica Neue"/>
              </a:rPr>
              <a:t>Turning volatile pay into a salary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8FA0AF"/>
                </a:solidFill>
                <a:latin typeface="Helvetica Neue"/>
              </a:rPr>
              <a:t>The classic irregular-income method — computed and proven instead of preached.</a:t>
            </a:r>
          </a:p>
        </p:txBody>
      </p:sp>
      <p:pic>
        <p:nvPicPr>
          <p:cNvPr id="3" name="Picture 2" descr="shot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7818120" cy="4163148"/>
          </a:xfrm>
          <a:prstGeom prst="rect">
            <a:avLst/>
          </a:prstGeom>
          <a:ln w="12700">
            <a:solidFill>
              <a:srgbClr val="1E283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503920" y="1417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A3E635"/>
                </a:solidFill>
                <a:latin typeface="Helvetica Neue"/>
              </a:rPr>
              <a:t>WHAT YOU'RE SEEING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755648"/>
            <a:ext cx="32918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$89/day paycheck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$622/week — the 25th percentile of this worker's own observed full weeks.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98% reliability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replaying 96 real days, the holding buffer could pay the full $89 on 98% of days.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$2,808 buffer built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surplus from strong days sits between the worker and the next slow week.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$40.44 fees avoided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8 of 8 wage advances would never have been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75904" y="4709160"/>
            <a:ext cx="3547872" cy="1627632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4818888"/>
            <a:ext cx="3291840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60A5FA"/>
                </a:solidFill>
                <a:latin typeface="Helvetica Neue"/>
              </a:rPr>
              <a:t>UNDER THE HOOD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8FA0AF"/>
                </a:solidFill>
                <a:latin typeface="Helvetica Neue"/>
              </a:rPr>
              <a:t>Replay: every real earning lands in a holding buffer; the worker is paid a fixed daily amount from it. An advance is marked avoidable when the buffer already held enough on the day it was requested.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5C6B78"/>
                </a:solidFill>
                <a:latin typeface="Helvetica Neue"/>
              </a:rPr>
              <a:t>Runway — money copilot for daily earners   ·   kelvine95.github.io/runway-money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C6B78"/>
                </a:solidFill>
                <a:latin typeface="Helvetica Neue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A3E635"/>
                </a:solidFill>
                <a:latin typeface="Helvetica Neue"/>
              </a:rPr>
              <a:t>MODULE 2 · STEADY PAYCHECK</a:t>
            </a:r>
          </a:p>
          <a:p>
            <a:r>
              <a:rPr sz="2400" b="1" i="0">
                <a:solidFill>
                  <a:srgbClr val="E8EEF4"/>
                </a:solidFill>
                <a:latin typeface="Helvetica Neue"/>
              </a:rPr>
              <a:t>The buffer that makes it possible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8FA0AF"/>
                </a:solidFill>
                <a:latin typeface="Helvetica Neue"/>
              </a:rPr>
              <a:t>Hovering the chart shows the mechanism on a real zero-income day.</a:t>
            </a:r>
          </a:p>
        </p:txBody>
      </p:sp>
      <p:pic>
        <p:nvPicPr>
          <p:cNvPr id="3" name="Picture 2" descr="shot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7818120" cy="4163148"/>
          </a:xfrm>
          <a:prstGeom prst="rect">
            <a:avLst/>
          </a:prstGeom>
          <a:ln w="12700">
            <a:solidFill>
              <a:srgbClr val="1E283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503920" y="1417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A3E635"/>
                </a:solidFill>
                <a:latin typeface="Helvetica Neue"/>
              </a:rPr>
              <a:t>WHAT YOU'RE SEEING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755648"/>
            <a:ext cx="32918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Tue, Apr 28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actual earnings $0.00 — steady paycheck still pays $89.00. That is the smoothing in action.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Buffer curve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grows from $0 to ~$2,800 over three months; slow days drain it, strong days refill it.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The insight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this worker never needed to borrow — they needed their own strong days redistributed by a few weeks.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75904" y="4709160"/>
            <a:ext cx="3547872" cy="1627632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4818888"/>
            <a:ext cx="3291840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60A5FA"/>
                </a:solidFill>
                <a:latin typeface="Helvetica Neue"/>
              </a:rPr>
              <a:t>UNDER THE HOOD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8FA0AF"/>
                </a:solidFill>
                <a:latin typeface="Helvetica Neue"/>
              </a:rPr>
              <a:t>Floor = P25(weekly net) ÷ 7, so roughly 3 of every 4 weeks build surplus by construction. The buffer is liquidity the worker owns instead of renting from an advance 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5C6B78"/>
                </a:solidFill>
                <a:latin typeface="Helvetica Neue"/>
              </a:rPr>
              <a:t>Runway — money copilot for daily earners   ·   kelvine95.github.io/runway-money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C6B78"/>
                </a:solidFill>
                <a:latin typeface="Helvetica Neue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A3E635"/>
                </a:solidFill>
                <a:latin typeface="Helvetica Neue"/>
              </a:rPr>
              <a:t>MODULE 3 · BILL RUNWAY</a:t>
            </a:r>
          </a:p>
          <a:p>
            <a:r>
              <a:rPr sz="2400" b="1" i="0">
                <a:solidFill>
                  <a:srgbClr val="E8EEF4"/>
                </a:solidFill>
                <a:latin typeface="Helvetica Neue"/>
              </a:rPr>
              <a:t>400 possible versions of the next 30 days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8FA0AF"/>
                </a:solidFill>
                <a:latin typeface="Helvetica Neue"/>
              </a:rPr>
              <a:t>Instead of one guess, a distribution — sampled from how this worker actually earns.</a:t>
            </a:r>
          </a:p>
        </p:txBody>
      </p:sp>
      <p:pic>
        <p:nvPicPr>
          <p:cNvPr id="3" name="Picture 2" descr="shot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7818120" cy="4163148"/>
          </a:xfrm>
          <a:prstGeom prst="rect">
            <a:avLst/>
          </a:prstGeom>
          <a:ln w="12700">
            <a:solidFill>
              <a:srgbClr val="1E283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503920" y="1417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A3E635"/>
                </a:solidFill>
                <a:latin typeface="Helvetica Neue"/>
              </a:rPr>
              <a:t>WHAT YOU'RE SEEING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755648"/>
            <a:ext cx="32918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Median path: never breaks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the typical simulated future stays above $0 for the full 30 days.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0% tail risk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share of simulations ending the month negative.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Fan chart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shaded band = 10th–90th percentile of 400 simulations; line = median; dots = bill due dates.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$2,808 of bills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3 scheduled payments inside the window.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75904" y="4709160"/>
            <a:ext cx="3547872" cy="1627632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4818888"/>
            <a:ext cx="3291840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60A5FA"/>
                </a:solidFill>
                <a:latin typeface="Helvetica Neue"/>
              </a:rPr>
              <a:t>UNDER THE HOOD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8FA0AF"/>
                </a:solidFill>
                <a:latin typeface="Helvetica Neue"/>
              </a:rPr>
              <a:t>Each trial samples daily income from the trailing 56-day pool (off-days included as $0), subtracts daily essentials, and pays bills on their due dates. Seeded per worker, so results are stable across reloads.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5C6B78"/>
                </a:solidFill>
                <a:latin typeface="Helvetica Neue"/>
              </a:rPr>
              <a:t>Runway — money copilot for daily earners   ·   kelvine95.github.io/runway-money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C6B78"/>
                </a:solidFill>
                <a:latin typeface="Helvetica Neue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A3E635"/>
                </a:solidFill>
                <a:latin typeface="Helvetica Neue"/>
              </a:rPr>
              <a:t>MODULE 3 · BILL RUNWAY</a:t>
            </a:r>
          </a:p>
          <a:p>
            <a:r>
              <a:rPr sz="2400" b="1" i="0">
                <a:solidFill>
                  <a:srgbClr val="E8EEF4"/>
                </a:solidFill>
                <a:latin typeface="Helvetica Neue"/>
              </a:rPr>
              <a:t>Per-bill funding confidence, in shifts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8FA0AF"/>
                </a:solidFill>
                <a:latin typeface="Helvetica Neue"/>
              </a:rPr>
              <a:t>Every due date gets its own probability — and gaps are quoted in the worker's unit.</a:t>
            </a:r>
          </a:p>
        </p:txBody>
      </p:sp>
      <p:pic>
        <p:nvPicPr>
          <p:cNvPr id="3" name="Picture 2" descr="shot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7818120" cy="4163148"/>
          </a:xfrm>
          <a:prstGeom prst="rect">
            <a:avLst/>
          </a:prstGeom>
          <a:ln w="12700">
            <a:solidFill>
              <a:srgbClr val="1E283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503920" y="1417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A3E635"/>
                </a:solidFill>
                <a:latin typeface="Helvetica Neue"/>
              </a:rPr>
              <a:t>WHAT YOU'RE SEEING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755648"/>
            <a:ext cx="32918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Hover any day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Jul 13: 10th–90th percentile $1,952–$2,728, median $2,365.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Childcare 100%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$805 due in 1 day — fully funded in every simulated future.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Rent 97%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$1,956 in 9 days — “needs ~0.3 extra shifts if the gap hits.”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Why shifts?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dollars describe the problem; shifts describe the action. Picking up work is the lever this user controls.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75904" y="4709160"/>
            <a:ext cx="3547872" cy="1627632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4818888"/>
            <a:ext cx="3291840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60A5FA"/>
                </a:solidFill>
                <a:latin typeface="Helvetica Neue"/>
              </a:rPr>
              <a:t>UNDER THE HOOD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8FA0AF"/>
                </a:solidFill>
                <a:latin typeface="Helvetica Neue"/>
              </a:rPr>
              <a:t>Funding confidence = share of trials where the bill clears without the balance going negative. Shifts needed = median shortfall across failing trials ÷ median net per shift.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5C6B78"/>
                </a:solidFill>
                <a:latin typeface="Helvetica Neue"/>
              </a:rPr>
              <a:t>Runway — money copilot for daily earners   ·   kelvine95.github.io/runway-money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C6B78"/>
                </a:solidFill>
                <a:latin typeface="Helvetica Neue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A3E635"/>
                </a:solidFill>
                <a:latin typeface="Helvetica Neue"/>
              </a:rPr>
              <a:t>MODULE 4 · SHIFT ROI</a:t>
            </a:r>
          </a:p>
          <a:p>
            <a:r>
              <a:rPr sz="2400" b="1" i="0">
                <a:solidFill>
                  <a:srgbClr val="E8EEF4"/>
                </a:solidFill>
                <a:latin typeface="Helvetica Neue"/>
              </a:rPr>
              <a:t>Which work actually pays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8FA0AF"/>
                </a:solidFill>
                <a:latin typeface="Helvetica Neue"/>
              </a:rPr>
              <a:t>Budget apps optimize spending. For a daily earner the bigger lever is which shifts to say yes to.</a:t>
            </a:r>
          </a:p>
        </p:txBody>
      </p:sp>
      <p:pic>
        <p:nvPicPr>
          <p:cNvPr id="3" name="Picture 2" descr="shot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7818120" cy="4163148"/>
          </a:xfrm>
          <a:prstGeom prst="rect">
            <a:avLst/>
          </a:prstGeom>
          <a:ln w="12700">
            <a:solidFill>
              <a:srgbClr val="1E283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503920" y="1417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A3E635"/>
                </a:solidFill>
                <a:latin typeface="Helvetica Neue"/>
              </a:rPr>
              <a:t>WHAT YOU'RE SEEING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755648"/>
            <a:ext cx="32918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$24.57/hr median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take-home across all 54 recorded shifts.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Wednesday wins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$27.07/hr median vs Thursday's $21.39/hr — highlighted lime vs red in the chart.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$198/month insight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swapping one Thu shift a week for a Wed shift ≈ 1.0 extra shift of money, without working it.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39% same-day pay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how often this worker is paid the day they work — a liquidity fact, not just a wage 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75904" y="4709160"/>
            <a:ext cx="3547872" cy="1627632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4818888"/>
            <a:ext cx="3291840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60A5FA"/>
                </a:solidFill>
                <a:latin typeface="Helvetica Neue"/>
              </a:rPr>
              <a:t>UNDER THE HOOD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8FA0AF"/>
                </a:solidFill>
                <a:latin typeface="Helvetica Neue"/>
              </a:rPr>
              <a:t>Median net ÷ hours per slot, split by weekday and shift type. Only slots with ≥5 recorded shifts are treated as credible enough to recommend.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5C6B78"/>
                </a:solidFill>
                <a:latin typeface="Helvetica Neue"/>
              </a:rPr>
              <a:t>Runway — money copilot for daily earners   ·   kelvine95.github.io/runway-money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C6B78"/>
                </a:solidFill>
                <a:latin typeface="Helvetica Neue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A3E635"/>
                </a:solidFill>
                <a:latin typeface="Helvetica Neue"/>
              </a:rPr>
              <a:t>MODULE 4 · SHIFT ROI</a:t>
            </a:r>
          </a:p>
          <a:p>
            <a:r>
              <a:rPr sz="2400" b="1" i="0">
                <a:solidFill>
                  <a:srgbClr val="E8EEF4"/>
                </a:solidFill>
                <a:latin typeface="Helvetica Neue"/>
              </a:rPr>
              <a:t>By employer — who respects your hour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8FA0AF"/>
                </a:solidFill>
                <a:latin typeface="Helvetica Neue"/>
              </a:rPr>
              <a:t>Multi-employer income is normal for daily earners. Runway ranks the payers.</a:t>
            </a:r>
          </a:p>
        </p:txBody>
      </p:sp>
      <p:pic>
        <p:nvPicPr>
          <p:cNvPr id="3" name="Picture 2" descr="shot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7818120" cy="4163148"/>
          </a:xfrm>
          <a:prstGeom prst="rect">
            <a:avLst/>
          </a:prstGeom>
          <a:ln w="12700">
            <a:solidFill>
              <a:srgbClr val="1E283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503920" y="1417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A3E635"/>
                </a:solidFill>
                <a:latin typeface="Helvetica Neue"/>
              </a:rPr>
              <a:t>WHAT YOU'RE SEEING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755648"/>
            <a:ext cx="32918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EMP-016 is the anchor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43 of 54 shifts, $24.88/hr median, $205.60 per shift, 40% paid same-day.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One-off gigs ranked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from EMP-033 at $28.49/hr down to EMP-038 at $15.62/hr — a $13/hr spread for the same worker.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Columns that matter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shifts (sample size), $/hr, $/shift, tips share, same-day-pay share.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75904" y="4709160"/>
            <a:ext cx="3547872" cy="1627632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4818888"/>
            <a:ext cx="3291840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60A5FA"/>
                </a:solidFill>
                <a:latin typeface="Helvetica Neue"/>
              </a:rPr>
              <a:t>UNDER THE HOOD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8FA0AF"/>
                </a:solidFill>
                <a:latin typeface="Helvetica Neue"/>
              </a:rPr>
              <a:t>This table is the seed of a marketplace insight: the same person, same city, same quarter — and nearly 2× difference in effective wage depending on who they work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5C6B78"/>
                </a:solidFill>
                <a:latin typeface="Helvetica Neue"/>
              </a:rPr>
              <a:t>Runway — money copilot for daily earners   ·   kelvine95.github.io/runway-money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C6B78"/>
                </a:solidFill>
                <a:latin typeface="Helvetica Neue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A3E635"/>
                </a:solidFill>
                <a:latin typeface="Helvetica Neue"/>
              </a:rPr>
              <a:t>MODULE 5 · ADVANCE AUDIT</a:t>
            </a:r>
          </a:p>
          <a:p>
            <a:r>
              <a:rPr sz="2400" b="1" i="0">
                <a:solidFill>
                  <a:srgbClr val="E8EEF4"/>
                </a:solidFill>
                <a:latin typeface="Helvetica Neue"/>
              </a:rPr>
              <a:t>Pricing the cash-advance habit honestly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8FA0AF"/>
                </a:solidFill>
                <a:latin typeface="Helvetica Neue"/>
              </a:rPr>
              <a:t>What borrowing against your own wages actually costs, in numbers lenders don't show.</a:t>
            </a:r>
          </a:p>
        </p:txBody>
      </p:sp>
      <p:pic>
        <p:nvPicPr>
          <p:cNvPr id="3" name="Picture 2" descr="shot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7818120" cy="4163148"/>
          </a:xfrm>
          <a:prstGeom prst="rect">
            <a:avLst/>
          </a:prstGeom>
          <a:ln w="12700">
            <a:solidFill>
              <a:srgbClr val="1E283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503920" y="1417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A3E635"/>
                </a:solidFill>
                <a:latin typeface="Helvetica Neue"/>
              </a:rPr>
              <a:t>WHAT YOU'RE SEEING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755648"/>
            <a:ext cx="32918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8 advances / $721.42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borrowed over 96 days, costing $40.44 in fees ≈ $154/year at this pace.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261% median effective APR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fee ÷ amount, annualized over days outstanding.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38% taken in rent week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the timing histogram shows borrowing clustering at the bill cliff.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The verdict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8 of 8 advances happened on days the steady-paycheck buffer would have covered — that $40.44 bought liquidity this worker could have owned free.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75904" y="4709160"/>
            <a:ext cx="3547872" cy="1627632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4818888"/>
            <a:ext cx="3291840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60A5FA"/>
                </a:solidFill>
                <a:latin typeface="Helvetica Neue"/>
              </a:rPr>
              <a:t>UNDER THE HOOD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8FA0AF"/>
                </a:solidFill>
                <a:latin typeface="Helvetica Neue"/>
              </a:rPr>
              <a:t>Effective APR = (fee ÷ amount) × (365 ÷ days outstanding). Reasons are taken from the advance request records: emergency, groceries, rent gap, bill due, childcare — timing failures, not luxury overspend.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5C6B78"/>
                </a:solidFill>
                <a:latin typeface="Helvetica Neue"/>
              </a:rPr>
              <a:t>Runway — money copilot for daily earners   ·   kelvine95.github.io/runway-money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C6B78"/>
                </a:solidFill>
                <a:latin typeface="Helvetica Neue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A3E635"/>
                </a:solidFill>
                <a:latin typeface="Helvetica Neue"/>
              </a:rPr>
              <a:t>MODULE 5 · ADVANCE AUDIT</a:t>
            </a:r>
          </a:p>
          <a:p>
            <a:r>
              <a:rPr sz="2400" b="1" i="0">
                <a:solidFill>
                  <a:srgbClr val="E8EEF4"/>
                </a:solidFill>
                <a:latin typeface="Helvetica Neue"/>
              </a:rPr>
              <a:t>Every advance itemized — and the cohort view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8FA0AF"/>
                </a:solidFill>
                <a:latin typeface="Helvetica Neue"/>
              </a:rPr>
              <a:t>A per-advance ledger for the worker, then the zoom-out across all 220 workers.</a:t>
            </a:r>
          </a:p>
        </p:txBody>
      </p:sp>
      <p:pic>
        <p:nvPicPr>
          <p:cNvPr id="3" name="Picture 2" descr="shot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7818120" cy="4163148"/>
          </a:xfrm>
          <a:prstGeom prst="rect">
            <a:avLst/>
          </a:prstGeom>
          <a:ln w="12700">
            <a:solidFill>
              <a:srgbClr val="1E283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503920" y="1417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A3E635"/>
                </a:solidFill>
                <a:latin typeface="Helvetica Neue"/>
              </a:rPr>
              <a:t>WHAT YOU'RE SEEING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755648"/>
            <a:ext cx="32918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The ledger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each advance with date, reason, amount, fee, days outstanding, effective APR, repayment status.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Small fees, huge rates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a $48.60 childcare advance with a $1.99 fee repaid next day = 1,495% effective APR.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Cohort strip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128 of 220 workers advanced · 535 advances · $1,435 fees ≈ $5,455/year pace · $11.21 per advance-user.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Why it matters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a quiet tax concentrated on the people with the least slack — and a measurable target for the product to eliminate.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5C6B78"/>
                </a:solidFill>
                <a:latin typeface="Helvetica Neue"/>
              </a:rPr>
              <a:t>Runway — money copilot for daily earners   ·   kelvine95.github.io/runway-money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C6B78"/>
                </a:solidFill>
                <a:latin typeface="Helvetica Neue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A3E635"/>
                </a:solidFill>
                <a:latin typeface="Helvetica Neue"/>
              </a:rPr>
              <a:t>MODULE 6 · LIFE PULSE</a:t>
            </a:r>
          </a:p>
          <a:p>
            <a:r>
              <a:rPr sz="2400" b="1" i="0">
                <a:solidFill>
                  <a:srgbClr val="E8EEF4"/>
                </a:solidFill>
                <a:latin typeface="Helvetica Neue"/>
              </a:rPr>
              <a:t>A daily ritual that respects lean days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8FA0AF"/>
                </a:solidFill>
                <a:latin typeface="Helvetica Neue"/>
              </a:rPr>
              <a:t>The retention surface: check in, see your place in the economy, take one small win.</a:t>
            </a:r>
          </a:p>
        </p:txBody>
      </p:sp>
      <p:pic>
        <p:nvPicPr>
          <p:cNvPr id="3" name="Picture 2" descr="shot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7818120" cy="4163148"/>
          </a:xfrm>
          <a:prstGeom prst="rect">
            <a:avLst/>
          </a:prstGeom>
          <a:ln w="12700">
            <a:solidFill>
              <a:srgbClr val="1E283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503920" y="1417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A3E635"/>
                </a:solidFill>
                <a:latin typeface="Helvetica Neue"/>
              </a:rPr>
              <a:t>WHAT YOU'RE SEEING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755648"/>
            <a:ext cx="32918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Energy check-in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“How much energy do you have — not how productive should you be?” Low battery / Steady / Ready to go.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Personal inflation 2.2%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official category inflation weighted by where W-0046 actually spends.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Living-wage gap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$23.75/hr observed take-home vs Calgary's $26.50/hr benchmark → the callout names it a structural gap, not a budgeting failure.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Adaptive missions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because there is no safe flex today, the app refuses to manufacture a savings goal — today's wins are protection and rest.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75904" y="4709160"/>
            <a:ext cx="3547872" cy="1627632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4818888"/>
            <a:ext cx="3291840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60A5FA"/>
                </a:solidFill>
                <a:latin typeface="Helvetica Neue"/>
              </a:rPr>
              <a:t>UNDER THE HOOD</a:t>
            </a:r>
          </a:p>
          <a:p>
            <a:pPr>
              <a:spcBef>
                <a:spcPts val="300"/>
              </a:spcBef>
            </a:pPr>
            <a:r>
              <a:rPr sz="950" b="0" i="0">
                <a:solidFill>
                  <a:srgbClr val="8FA0AF"/>
                </a:solidFill>
                <a:latin typeface="Helvetica Neue"/>
              </a:rPr>
              <a:t>Resilience points and a gentle streak live in localStorage. No lost-streak shame, no borrow nudges — surplus days invite a tiny buffer move; lean days never apply savings pressure.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5C6B78"/>
                </a:solidFill>
                <a:latin typeface="Helvetica Neue"/>
              </a:rPr>
              <a:t>Runway — money copilot for daily earners   ·   kelvine95.github.io/runway-money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C6B78"/>
                </a:solidFill>
                <a:latin typeface="Helvetica Neue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A3E635"/>
                </a:solidFill>
                <a:latin typeface="Helvetica Neue"/>
              </a:rPr>
              <a:t>MODULE 6 · LIFE PULSE</a:t>
            </a:r>
          </a:p>
          <a:p>
            <a:r>
              <a:rPr sz="2400" b="1" i="0">
                <a:solidFill>
                  <a:srgbClr val="E8EEF4"/>
                </a:solidFill>
                <a:latin typeface="Helvetica Neue"/>
              </a:rPr>
              <a:t>The economy layer — context, not hindsight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8FA0AF"/>
                </a:solidFill>
                <a:latin typeface="Helvetica Neue"/>
              </a:rPr>
              <a:t>Official macro baselines personalized to the worker, with sources linked in-app.</a:t>
            </a:r>
          </a:p>
        </p:txBody>
      </p:sp>
      <p:pic>
        <p:nvPicPr>
          <p:cNvPr id="3" name="Picture 2" descr="shot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7818120" cy="4163148"/>
          </a:xfrm>
          <a:prstGeom prst="rect">
            <a:avLst/>
          </a:prstGeom>
          <a:ln w="12700">
            <a:solidFill>
              <a:srgbClr val="1E283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503920" y="1417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A3E635"/>
                </a:solidFill>
                <a:latin typeface="Helvetica Neue"/>
              </a:rPr>
              <a:t>WHAT YOU'RE SEEING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755648"/>
            <a:ext cx="32918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Weighted inflation chart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transit inflation (+6.7%) dominates for this landscaper because that is where their essential dollars go.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Canada vs US pulse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CPI 2.8% vs 3.5% · Alberta CPI 3.4% · Alberta unemployment 7.0% · BoC 2.25% vs Fed 3.50–3.75%.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The baseline strip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$15.00/hr Alberta minimum wage unchanged since 2018 · groceries +3.9% · gasoline +20.5%.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Design principle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macro data is displayed as a dated snapshot; it is never injected into the historical forecast, avoiding fake precision.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5C6B78"/>
                </a:solidFill>
                <a:latin typeface="Helvetica Neue"/>
              </a:rPr>
              <a:t>Runway — money copilot for daily earners   ·   kelvine95.github.io/runway-money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C6B78"/>
                </a:solidFill>
                <a:latin typeface="Helvetica Neue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A3E635"/>
                </a:solidFill>
                <a:latin typeface="Helvetica Neue"/>
              </a:rPr>
              <a:t>ENGINEERING</a:t>
            </a:r>
          </a:p>
          <a:p>
            <a:r>
              <a:rPr sz="2400" b="1" i="0">
                <a:solidFill>
                  <a:srgbClr val="E8EEF4"/>
                </a:solidFill>
                <a:latin typeface="Helvetica Neue"/>
              </a:rPr>
              <a:t>Under the hood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8FA0AF"/>
                </a:solidFill>
                <a:latin typeface="Helvetica Neue"/>
              </a:rPr>
              <a:t>Small, legible, and deliberately honest about its assumptions.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64592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60A5FA"/>
                </a:solidFill>
                <a:latin typeface="Helvetica Neue"/>
              </a:rP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011680"/>
            <a:ext cx="55778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Frontend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Vite + React + TypeScript, Recharts for charts, PapaParse for CSV ingestion.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Hosting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static build on GitHub Pages — zero backend, zero hosting cost.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Analytics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every model runs client-side in TypeScript: safeToSpend, steadyPaycheck, runway (Monte Carlo), shiftRoi, advances, economicContext.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Determinism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Monte Carlo is seeded per worker (mulberry32), so numbers are stable across reloads and demos.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64592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60A5FA"/>
                </a:solidFill>
                <a:latin typeface="Helvetica Neue"/>
              </a:rPr>
              <a:t>DATA &amp;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011680"/>
            <a:ext cx="55778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Six feeds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workers (220) · daily earnings (12,204) · transactions (31,726) · obligations (849) · advances (535) · weekly summaries.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Ledger rebuild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canonical balances recomputed from transaction deltas — the raw running-balance field is inconsistent and never trusted.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Conservatism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income floors use P25, not averages; averages overstate capacity for volatile earners and recreate the cliff.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A3E635"/>
                </a:solidFill>
                <a:latin typeface="Helvetica Neue"/>
              </a:rPr>
              <a:t>▪  </a:t>
            </a:r>
            <a:r>
              <a:rPr sz="1050" b="1" i="0">
                <a:solidFill>
                  <a:srgbClr val="E8EEF4"/>
                </a:solidFill>
                <a:latin typeface="Helvetica Neue"/>
              </a:rPr>
              <a:t>Stated limits — </a:t>
            </a:r>
            <a:r>
              <a:rPr sz="1050" b="0" i="0">
                <a:solidFill>
                  <a:srgbClr val="8FA0AF"/>
                </a:solidFill>
                <a:latin typeface="Helvetica Neue"/>
              </a:rPr>
              <a:t>synthetic cohort; i.i.d. daily sampling (no weekday seasonality yet); P25 floor and 7-day buffer are defaults, not yet personalized.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5C6B78"/>
                </a:solidFill>
                <a:latin typeface="Helvetica Neue"/>
              </a:rPr>
              <a:t>Runway — money copilot for daily earners   ·   kelvine95.github.io/runway-money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C6B78"/>
                </a:solidFill>
                <a:latin typeface="Helvetica Neue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A3E635"/>
                </a:solidFill>
                <a:latin typeface="Helvetica Neue"/>
              </a:rPr>
              <a:t>TRY IT NOW</a:t>
            </a:r>
          </a:p>
          <a:p>
            <a:r>
              <a:rPr sz="2400" b="1" i="0">
                <a:solidFill>
                  <a:srgbClr val="E8EEF4"/>
                </a:solidFill>
                <a:latin typeface="Helvetica Neue"/>
              </a:rPr>
              <a:t>Live demo, open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64240" cy="1051560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65376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A3E635"/>
                </a:solidFill>
                <a:latin typeface="Helvetica Neue"/>
              </a:rPr>
              <a:t>LIVE DEMO   </a:t>
            </a:r>
            <a:r>
              <a:rPr sz="1400" b="1" i="0">
                <a:solidFill>
                  <a:srgbClr val="E8EEF4"/>
                </a:solidFill>
                <a:latin typeface="Helvetica Neue"/>
              </a:rPr>
              <a:t>https://kelvine95.github.io/runway-money/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8FA0AF"/>
                </a:solidFill>
                <a:latin typeface="Helvetica Neue"/>
              </a:rPr>
              <a:t>Opens on the cohort's heaviest advance user; switch among all 220 workers in the sidebar.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71800"/>
            <a:ext cx="11064240" cy="1051560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99816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A3E635"/>
                </a:solidFill>
                <a:latin typeface="Helvetica Neue"/>
              </a:rPr>
              <a:t>SOURCE CODE   </a:t>
            </a:r>
            <a:r>
              <a:rPr sz="1400" b="1" i="0">
                <a:solidFill>
                  <a:srgbClr val="E8EEF4"/>
                </a:solidFill>
                <a:latin typeface="Helvetica Neue"/>
              </a:rPr>
              <a:t>https://github.com/kelvine95/runway-money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8FA0AF"/>
                </a:solidFill>
                <a:latin typeface="Helvetica Neue"/>
              </a:rPr>
              <a:t>MIT-style hackathon repo — data, analytics engine, UI, and this deck.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06240"/>
            <a:ext cx="11064240" cy="1051560"/>
          </a:xfrm>
          <a:prstGeom prst="roundRect">
            <a:avLst>
              <a:gd name="adj" fmla="val 4500"/>
            </a:avLst>
          </a:prstGeom>
          <a:solidFill>
            <a:srgbClr val="141C25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34256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A3E635"/>
                </a:solidFill>
                <a:latin typeface="Helvetica Neue"/>
              </a:rPr>
              <a:t>RUN LOCALLY   </a:t>
            </a:r>
            <a:r>
              <a:rPr sz="1400" b="1" i="0">
                <a:solidFill>
                  <a:srgbClr val="E8EEF4"/>
                </a:solidFill>
                <a:latin typeface="Helvetica Neue"/>
              </a:rPr>
              <a:t>npm install &amp;&amp; npm run dev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8FA0AF"/>
                </a:solidFill>
                <a:latin typeface="Helvetica Neue"/>
              </a:rPr>
              <a:t>No API keys, no configuration. The dataset ships with the repo.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4500"/>
            </a:avLst>
          </a:prstGeom>
          <a:solidFill>
            <a:srgbClr val="0A0E13"/>
          </a:solidFill>
          <a:ln w="9525">
            <a:solidFill>
              <a:srgbClr val="1E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586984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E8EEF4"/>
                </a:solidFill>
                <a:latin typeface="Helvetica Neue"/>
              </a:rPr>
              <a:t>“The market already charges workers for surviving income volatility. Runway's bet is that preventing the cliff is a better product than renting people their own wages.”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5C6B78"/>
                </a:solidFill>
                <a:latin typeface="Helvetica Neue"/>
              </a:rPr>
              <a:t>Runway — money copilot for daily earners   ·   kelvine95.github.io/runway-money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C6B78"/>
                </a:solidFill>
                <a:latin typeface="Helvetica Neue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